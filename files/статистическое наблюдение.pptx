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2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46712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28364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414612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414612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28364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59" name="Рисунок 58"/>
          <p:cNvPicPr/>
          <p:nvPr/>
        </p:nvPicPr>
        <p:blipFill>
          <a:blip r:embed="rId2"/>
          <a:stretch/>
        </p:blipFill>
        <p:spPr>
          <a:xfrm>
            <a:off x="1136880" y="1599840"/>
            <a:ext cx="6107760" cy="4873320"/>
          </a:xfrm>
          <a:prstGeom prst="rect">
            <a:avLst/>
          </a:prstGeom>
          <a:ln>
            <a:noFill/>
          </a:ln>
        </p:spPr>
      </p:pic>
      <p:pic>
        <p:nvPicPr>
          <p:cNvPr id="60" name="Рисунок 59"/>
          <p:cNvPicPr/>
          <p:nvPr/>
        </p:nvPicPr>
        <p:blipFill>
          <a:blip r:embed="rId2"/>
          <a:stretch/>
        </p:blipFill>
        <p:spPr>
          <a:xfrm>
            <a:off x="1136880" y="1599840"/>
            <a:ext cx="6107760" cy="4873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46712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428364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57200" y="414612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4146120"/>
            <a:ext cx="74671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283640" y="160020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28364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457200" y="4146120"/>
            <a:ext cx="3643920" cy="23245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04" name="Рисунок 103"/>
          <p:cNvPicPr/>
          <p:nvPr/>
        </p:nvPicPr>
        <p:blipFill>
          <a:blip r:embed="rId2"/>
          <a:stretch/>
        </p:blipFill>
        <p:spPr>
          <a:xfrm>
            <a:off x="1136880" y="1599840"/>
            <a:ext cx="6107760" cy="4873320"/>
          </a:xfrm>
          <a:prstGeom prst="rect">
            <a:avLst/>
          </a:prstGeom>
          <a:ln>
            <a:noFill/>
          </a:ln>
        </p:spPr>
      </p:pic>
      <p:pic>
        <p:nvPicPr>
          <p:cNvPr id="105" name="Рисунок 104"/>
          <p:cNvPicPr/>
          <p:nvPr/>
        </p:nvPicPr>
        <p:blipFill>
          <a:blip r:embed="rId2"/>
          <a:stretch/>
        </p:blipFill>
        <p:spPr>
          <a:xfrm>
            <a:off x="1136880" y="1599840"/>
            <a:ext cx="6107760" cy="4873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ine 1"/>
          <p:cNvSpPr/>
          <p:nvPr/>
        </p:nvSpPr>
        <p:spPr>
          <a:xfrm>
            <a:off x="8762760" y="0"/>
            <a:ext cx="360" cy="6858000"/>
          </a:xfrm>
          <a:prstGeom prst="line">
            <a:avLst/>
          </a:prstGeom>
          <a:ln w="38160">
            <a:solidFill>
              <a:schemeClr val="accent1">
                <a:tint val="60000"/>
                <a:alpha val="93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Line 2"/>
          <p:cNvSpPr/>
          <p:nvPr/>
        </p:nvSpPr>
        <p:spPr>
          <a:xfrm>
            <a:off x="7596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Line 3"/>
          <p:cNvSpPr/>
          <p:nvPr/>
        </p:nvSpPr>
        <p:spPr>
          <a:xfrm>
            <a:off x="8991360" y="0"/>
            <a:ext cx="360" cy="6858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 hidden="1"/>
          <p:cNvSpPr/>
          <p:nvPr/>
        </p:nvSpPr>
        <p:spPr>
          <a:xfrm>
            <a:off x="8839080" y="0"/>
            <a:ext cx="304560" cy="685764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Line 5"/>
          <p:cNvSpPr/>
          <p:nvPr/>
        </p:nvSpPr>
        <p:spPr>
          <a:xfrm>
            <a:off x="8915400" y="0"/>
            <a:ext cx="360" cy="6858000"/>
          </a:xfrm>
          <a:prstGeom prst="line">
            <a:avLst/>
          </a:prstGeom>
          <a:ln w="936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6" hidden="1"/>
          <p:cNvSpPr/>
          <p:nvPr/>
        </p:nvSpPr>
        <p:spPr>
          <a:xfrm>
            <a:off x="8156520" y="5715000"/>
            <a:ext cx="548280" cy="548280"/>
          </a:xfrm>
          <a:prstGeom prst="ellipse">
            <a:avLst/>
          </a:prstGeom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" name="PlaceHolder 7"/>
          <p:cNvSpPr>
            <a:spLocks noGrp="1"/>
          </p:cNvSpPr>
          <p:nvPr>
            <p:ph type="title"/>
          </p:nvPr>
        </p:nvSpPr>
        <p:spPr>
          <a:xfrm>
            <a:off x="2286000" y="3124080"/>
            <a:ext cx="6171840" cy="189396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575F6D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Образец заголовка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/>
          </p:nvPr>
        </p:nvSpPr>
        <p:spPr>
          <a:xfrm rot="5400000">
            <a:off x="7765200" y="1174320"/>
            <a:ext cx="2285640" cy="3805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r>
              <a:rPr lang="ru-RU" sz="1200" b="0" strike="noStrike" spc="-1">
                <a:solidFill>
                  <a:srgbClr val="575F6D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14.1.20</a:t>
            </a:r>
            <a:endParaRPr lang="ru-RU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ftr"/>
          </p:nvPr>
        </p:nvSpPr>
        <p:spPr>
          <a:xfrm rot="5400000">
            <a:off x="7077240" y="4181400"/>
            <a:ext cx="3657240" cy="38376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380880" y="0"/>
            <a:ext cx="609120" cy="685764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" name="CustomShape 11"/>
          <p:cNvSpPr/>
          <p:nvPr/>
        </p:nvSpPr>
        <p:spPr>
          <a:xfrm>
            <a:off x="276480" y="0"/>
            <a:ext cx="104400" cy="685764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" name="CustomShape 12"/>
          <p:cNvSpPr/>
          <p:nvPr/>
        </p:nvSpPr>
        <p:spPr>
          <a:xfrm>
            <a:off x="990720" y="0"/>
            <a:ext cx="181440" cy="685764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" name="CustomShape 13"/>
          <p:cNvSpPr/>
          <p:nvPr/>
        </p:nvSpPr>
        <p:spPr>
          <a:xfrm>
            <a:off x="1141200" y="0"/>
            <a:ext cx="230040" cy="685764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" name="Line 14"/>
          <p:cNvSpPr/>
          <p:nvPr/>
        </p:nvSpPr>
        <p:spPr>
          <a:xfrm>
            <a:off x="10620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60000"/>
                <a:alpha val="73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Line 15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20000"/>
                <a:alpha val="83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Line 16"/>
          <p:cNvSpPr/>
          <p:nvPr/>
        </p:nvSpPr>
        <p:spPr>
          <a:xfrm>
            <a:off x="85392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Line 17"/>
          <p:cNvSpPr/>
          <p:nvPr/>
        </p:nvSpPr>
        <p:spPr>
          <a:xfrm>
            <a:off x="1726560" y="0"/>
            <a:ext cx="360" cy="6858000"/>
          </a:xfrm>
          <a:prstGeom prst="line">
            <a:avLst/>
          </a:prstGeom>
          <a:ln w="28440">
            <a:solidFill>
              <a:schemeClr val="accent1">
                <a:tint val="60000"/>
                <a:alpha val="82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Line 18"/>
          <p:cNvSpPr/>
          <p:nvPr/>
        </p:nvSpPr>
        <p:spPr>
          <a:xfrm>
            <a:off x="1066680" y="0"/>
            <a:ext cx="360" cy="6858000"/>
          </a:xfrm>
          <a:prstGeom prst="line">
            <a:avLst/>
          </a:prstGeom>
          <a:ln w="9360">
            <a:solidFill>
              <a:schemeClr val="accent1">
                <a:tint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Line 19"/>
          <p:cNvSpPr/>
          <p:nvPr/>
        </p:nvSpPr>
        <p:spPr>
          <a:xfrm>
            <a:off x="911376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20"/>
          <p:cNvSpPr/>
          <p:nvPr/>
        </p:nvSpPr>
        <p:spPr>
          <a:xfrm>
            <a:off x="1219320" y="0"/>
            <a:ext cx="75960" cy="685764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" name="CustomShape 21"/>
          <p:cNvSpPr/>
          <p:nvPr/>
        </p:nvSpPr>
        <p:spPr>
          <a:xfrm>
            <a:off x="609480" y="3429000"/>
            <a:ext cx="1294920" cy="1294920"/>
          </a:xfrm>
          <a:prstGeom prst="ellipse">
            <a:avLst/>
          </a:prstGeom>
          <a:solidFill>
            <a:schemeClr val="accent1"/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" name="CustomShape 22"/>
          <p:cNvSpPr/>
          <p:nvPr/>
        </p:nvSpPr>
        <p:spPr>
          <a:xfrm>
            <a:off x="1309680" y="4866840"/>
            <a:ext cx="641160" cy="641160"/>
          </a:xfrm>
          <a:prstGeom prst="ellipse">
            <a:avLst/>
          </a:prstGeom>
          <a:ln w="2844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" name="CustomShape 23"/>
          <p:cNvSpPr/>
          <p:nvPr/>
        </p:nvSpPr>
        <p:spPr>
          <a:xfrm>
            <a:off x="1091160" y="5500800"/>
            <a:ext cx="136800" cy="136800"/>
          </a:xfrm>
          <a:prstGeom prst="ellipse">
            <a:avLst/>
          </a:prstGeom>
          <a:ln w="1260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3" name="CustomShape 24"/>
          <p:cNvSpPr/>
          <p:nvPr/>
        </p:nvSpPr>
        <p:spPr>
          <a:xfrm>
            <a:off x="1664280" y="5788080"/>
            <a:ext cx="273960" cy="273960"/>
          </a:xfrm>
          <a:prstGeom prst="ellipse">
            <a:avLst/>
          </a:prstGeom>
          <a:ln w="1260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" name="CustomShape 25"/>
          <p:cNvSpPr/>
          <p:nvPr/>
        </p:nvSpPr>
        <p:spPr>
          <a:xfrm>
            <a:off x="1905120" y="4495680"/>
            <a:ext cx="365400" cy="365400"/>
          </a:xfrm>
          <a:prstGeom prst="ellipse">
            <a:avLst/>
          </a:prstGeom>
          <a:ln w="2844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" name="PlaceHolder 26"/>
          <p:cNvSpPr>
            <a:spLocks noGrp="1"/>
          </p:cNvSpPr>
          <p:nvPr>
            <p:ph type="sldNum"/>
          </p:nvPr>
        </p:nvSpPr>
        <p:spPr>
          <a:xfrm>
            <a:off x="1325520" y="4928760"/>
            <a:ext cx="609120" cy="5173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B5E059F-0CA2-4AA4-BA16-FB7DAFD17D92}" type="slidenum">
              <a:rPr lang="ru-RU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pPr algn="ctr">
                <a:lnSpc>
                  <a:spcPct val="100000"/>
                </a:lnSpc>
              </a:pPr>
              <a:t>‹#›</a:t>
            </a:fld>
            <a:endParaRPr lang="ru-RU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6" name="PlaceHolder 2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Второй уровень структуры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Третий уровень структуры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Четвёртый уровень структуры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Пятый уровень структуры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Шестой уровень структуры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 1"/>
          <p:cNvSpPr/>
          <p:nvPr/>
        </p:nvSpPr>
        <p:spPr>
          <a:xfrm>
            <a:off x="8762760" y="0"/>
            <a:ext cx="360" cy="6858000"/>
          </a:xfrm>
          <a:prstGeom prst="line">
            <a:avLst/>
          </a:prstGeom>
          <a:ln w="38160">
            <a:solidFill>
              <a:schemeClr val="accent1">
                <a:tint val="60000"/>
                <a:alpha val="93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Line 2"/>
          <p:cNvSpPr/>
          <p:nvPr/>
        </p:nvSpPr>
        <p:spPr>
          <a:xfrm>
            <a:off x="75960" y="0"/>
            <a:ext cx="360" cy="6858000"/>
          </a:xfrm>
          <a:prstGeom prst="line">
            <a:avLst/>
          </a:prstGeom>
          <a:ln w="57240">
            <a:solidFill>
              <a:schemeClr val="accent1">
                <a:tint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" name="Line 3"/>
          <p:cNvSpPr/>
          <p:nvPr/>
        </p:nvSpPr>
        <p:spPr>
          <a:xfrm>
            <a:off x="8991360" y="0"/>
            <a:ext cx="360" cy="6858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CustomShape 4"/>
          <p:cNvSpPr/>
          <p:nvPr/>
        </p:nvSpPr>
        <p:spPr>
          <a:xfrm>
            <a:off x="8839080" y="0"/>
            <a:ext cx="304560" cy="685764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" name="Line 5"/>
          <p:cNvSpPr/>
          <p:nvPr/>
        </p:nvSpPr>
        <p:spPr>
          <a:xfrm>
            <a:off x="8915400" y="0"/>
            <a:ext cx="360" cy="6858000"/>
          </a:xfrm>
          <a:prstGeom prst="line">
            <a:avLst/>
          </a:prstGeom>
          <a:ln w="9360">
            <a:solidFill>
              <a:schemeClr val="accent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CustomShape 6"/>
          <p:cNvSpPr/>
          <p:nvPr/>
        </p:nvSpPr>
        <p:spPr>
          <a:xfrm>
            <a:off x="8156520" y="5715000"/>
            <a:ext cx="548280" cy="548280"/>
          </a:xfrm>
          <a:prstGeom prst="ellipse">
            <a:avLst/>
          </a:prstGeom>
          <a:ln w="38160">
            <a:noFill/>
          </a:ln>
          <a:effectLst>
            <a:outerShdw blurRad="50800" dist="250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" name="PlaceHolder 7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7120" cy="114264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3000" b="0" strike="noStrike" cap="small" spc="-1">
                <a:solidFill>
                  <a:srgbClr val="575F6D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Образец заголовка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68" name="PlaceHolder 8"/>
          <p:cNvSpPr>
            <a:spLocks noGrp="1"/>
          </p:cNvSpPr>
          <p:nvPr>
            <p:ph type="body"/>
          </p:nvPr>
        </p:nvSpPr>
        <p:spPr>
          <a:xfrm>
            <a:off x="457200" y="1600200"/>
            <a:ext cx="7467120" cy="487332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Второй уровень структуры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Третий уровень структуры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Четвёртый уровень структуры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Пятый уровень структуры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Шестой уровень структуры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Седьмой уровень структурыОбразец текста</a:t>
            </a:r>
          </a:p>
          <a:p>
            <a:pPr marL="640080" lvl="1" indent="-273960">
              <a:lnSpc>
                <a:spcPct val="100000"/>
              </a:lnSpc>
              <a:buClr>
                <a:srgbClr val="FE8637"/>
              </a:buClr>
              <a:buSzPct val="80000"/>
              <a:buFont typeface="Wingdings 2" charset="2"/>
              <a:buChar char=""/>
            </a:pPr>
            <a:r>
              <a:rPr lang="ru-RU" sz="2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Второй уровень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914400" lvl="2" indent="-182520">
              <a:lnSpc>
                <a:spcPct val="100000"/>
              </a:lnSpc>
              <a:buClr>
                <a:srgbClr val="E07630"/>
              </a:buClr>
              <a:buSzPct val="60000"/>
              <a:buFont typeface="Wingdings" charset="2"/>
              <a:buChar char=""/>
            </a:pPr>
            <a:r>
              <a:rPr lang="ru-RU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Третий уровень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1188720" lvl="3" indent="-182520">
              <a:lnSpc>
                <a:spcPct val="100000"/>
              </a:lnSpc>
              <a:buClr>
                <a:srgbClr val="FEC2AE"/>
              </a:buClr>
              <a:buSzPct val="60000"/>
              <a:buFont typeface="Wingdings" charset="2"/>
              <a:buChar char=""/>
            </a:pPr>
            <a:r>
              <a:rPr lang="ru-RU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Четвертый уровень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1463040" lvl="4" indent="-182520">
              <a:lnSpc>
                <a:spcPct val="100000"/>
              </a:lnSpc>
              <a:buClr>
                <a:srgbClr val="BCC9E9"/>
              </a:buClr>
              <a:buSzPct val="68000"/>
              <a:buFont typeface="Wingdings 2" charset="2"/>
              <a:buChar char=""/>
            </a:pPr>
            <a:r>
              <a:rPr lang="ru-RU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Пятый уровень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69" name="PlaceHolder 9"/>
          <p:cNvSpPr>
            <a:spLocks noGrp="1"/>
          </p:cNvSpPr>
          <p:nvPr>
            <p:ph type="dt"/>
          </p:nvPr>
        </p:nvSpPr>
        <p:spPr>
          <a:xfrm rot="5400000">
            <a:off x="7589520" y="1081800"/>
            <a:ext cx="2011320" cy="38376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r>
              <a:rPr lang="ru-RU" sz="1200" b="0" strike="noStrike" spc="-1">
                <a:solidFill>
                  <a:srgbClr val="575F6D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14.1.20</a:t>
            </a:r>
            <a:endParaRPr lang="ru-RU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0" name="PlaceHolder 10"/>
          <p:cNvSpPr>
            <a:spLocks noGrp="1"/>
          </p:cNvSpPr>
          <p:nvPr>
            <p:ph type="sldNum"/>
          </p:nvPr>
        </p:nvSpPr>
        <p:spPr>
          <a:xfrm>
            <a:off x="8129160" y="5734080"/>
            <a:ext cx="609120" cy="5209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71C5F205-820E-4D0F-85A3-032C96319831}" type="slidenum">
              <a:rPr lang="ru-RU" sz="1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pPr algn="ctr">
                <a:lnSpc>
                  <a:spcPct val="100000"/>
                </a:lnSpc>
              </a:pPr>
              <a:t>‹#›</a:t>
            </a:fld>
            <a:endParaRPr lang="ru-RU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1" name="PlaceHolder 11"/>
          <p:cNvSpPr>
            <a:spLocks noGrp="1"/>
          </p:cNvSpPr>
          <p:nvPr>
            <p:ph type="ftr"/>
          </p:nvPr>
        </p:nvSpPr>
        <p:spPr>
          <a:xfrm rot="5400000">
            <a:off x="6990480" y="3737160"/>
            <a:ext cx="3200040" cy="36540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1000100" y="1418040"/>
            <a:ext cx="7572428" cy="1893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6600" b="1" strike="noStrike" cap="small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</a:t>
            </a:r>
            <a:r>
              <a:rPr lang="ru-RU" sz="6000" b="1" strike="noStrike" cap="small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«Статистическое наблюдение»</a:t>
            </a:r>
            <a:endParaRPr lang="ru-RU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1 вопрос. Понятие статистического наблюдения. 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Статистическое наблюдение</a:t>
            </a: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– первая стадия статистического исследования, представляющая собой научно-организованный сбор информации о массовых явлениях и процессах общественной жизни.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Однако, не всякий сбор информации является статистическим наблюдением.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Статистическим наблюдением можно считать такое наблюдение</a:t>
            </a: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, которое обеспечивает регистрацию установленных фактов в учетных документах с целью последующего их обобщения.</a:t>
            </a: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Этапы наблюдения: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точная формулировка целей и конкретных задач;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определение объекта и единицы наблюдения;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разработка программы и плана наблюдения;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определение вида и способа наблюдения.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457200" y="642960"/>
            <a:ext cx="7467120" cy="5830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Объект статистического наблюдения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– совокупность общественных явлений и процессов, которые подлежат данному наблюдению.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Единица наблюдения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– элемент статистического наблюдения, являющийся носителем признаков, подлежащих регистрации.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Программа статистического наблюдения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– представляет собой перечень показателей, подлежащих регистрации, т. е. перечень вопросов, на которые должны быть получены ответы по каждой единицы совокупности.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Требования к программе наблюдения:</a:t>
            </a:r>
            <a:r>
              <a:rPr lang="ru-RU" sz="30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14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Должны быть только необходимые вопросы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Вопросы должны быть четко, точно, ясно сформулированы, чтобы все понимали их одинаково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Включаются лишь те вопросы, на которые можно получить точный ответ (да/нет)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Требования к наблюдению:</a:t>
            </a:r>
            <a:r>
              <a:rPr lang="ru-RU" sz="30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Должно носить определенный смысл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Должен быть обеспечен сбор массовых данных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Наблюдение должно быть объективным, экономичным и по возможности непродолжительным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Должны применяться современные технологии для осуществления наблюдения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Должен быть обеспечен контроль результатов наблюдения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2 ВОПРОС. Формы наблюдения.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 algn="ctr">
              <a:lnSpc>
                <a:spcPct val="100000"/>
              </a:lnSpc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В статистике выделяют 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 algn="ctr">
              <a:lnSpc>
                <a:spcPct val="100000"/>
              </a:lnSpc>
            </a:pPr>
            <a:r>
              <a:rPr lang="ru-RU" sz="32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две основные формы статистического наблюдения: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 algn="ctr"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Отчётность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Специально организованное статистическое наблюдение.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Отчетность – 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  это такая форма наблюдения, при которой предприятия и организации в определенном порядке и в определенные сроки и за определенный период предоставляют  в статистические органы определенным способом данные о своей работе в виде отчетных документов. Эти отчетные документы должны быть подписаны лицами, отвечающими за достоверность предоставленной информации.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57200" y="274680"/>
            <a:ext cx="7467120" cy="16538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Отчетность решает следующие задачи: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Характеризует деятельность предприятия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Дает материалы для проведения итогов и составление планов на будущее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Выявляет имеющиеся резервы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Позволяет сравнивать деятельность различных предприятий 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Специально-организованное статистическое наблюдение</a:t>
            </a:r>
            <a:r>
              <a:rPr lang="ru-RU" sz="30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–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  </a:t>
            </a: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это наблюдение, организуемое с какой-либо особой целью для получения данных, которые, как правило, не содержаться в отчётности, и проводиться обычно прерывно, через определённые промежутки времени.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3 ВОПРОС. Виды  и способы наблюдения. 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 algn="ctr">
              <a:lnSpc>
                <a:spcPct val="100000"/>
              </a:lnSpc>
            </a:pPr>
            <a:r>
              <a:rPr lang="ru-RU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Виды наблюдения классифицируются по следующим признакам: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По степени охвата исследуемой совокупности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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По времени проведения наблюдения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</a:t>
            </a: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В зависимости от источников сведений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457200" y="274680"/>
            <a:ext cx="7467120" cy="1439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1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</a:t>
            </a:r>
            <a:r>
              <a:rPr lang="ru-RU" sz="31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По степени охвата исследуемой совокупности:</a:t>
            </a: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Сплошное – здесь регистрации подлежат все без исключения единицы изучаемой совокупности (перепись населения)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Несплошное – обследованию подвергаются не все единицы совокупности, а только их часть, на основе которой можно получить обобщенную характеристику всей совокупности: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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Выборочное – наблюдение части единиц изучаемой совокупности, выделенной методом случайного отбора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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Наблюдение основного массива – охватывает обследование определенных наиболее существенных по значимости , изученных признаков и единиц совокупности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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Монографичное – изучение и обследование (всестороннее и глубокое) определенной единицы совокупности или единиц, обладающих специфическими особенностями, но при этом не ставится цель охарактеризовать всю совокупность.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457200" y="274680"/>
            <a:ext cx="7467120" cy="1725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</a:t>
            </a: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По времени проведения наблюдения: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Непрерывное (текущее – проводится путем непрерывной регистрации фактов по мере их возникновения)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Прерывное: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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Периодическое – проводится регулярно через равные промежутки времени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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Единовременное – проводится однократно по мере надобности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457200" y="274680"/>
            <a:ext cx="7467120" cy="1582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ymbol"/>
              </a:rPr>
              <a:t></a:t>
            </a:r>
            <a:r>
              <a:rPr lang="ru-RU" sz="36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. В зависимости от источников сведений:
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Непосредственное – обеспечивается путем фиксации фактов лично-установленных регистратором в результате осмотра, измерения, подсчета признаков изучаемой совокупности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Документальное – основывается на использовании в качестве источника информации данных различных документов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Опрос – получение данных в качестве ответов  опрашиваемых лиц</a:t>
            </a:r>
          </a:p>
          <a:p>
            <a:pPr marL="274320" indent="-273960"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Способы проведения статистического наблюдения: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Отчётный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Экспедиционный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Анкетный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Корреспондентский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Явочный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5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Саморегистрация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457200" y="274680"/>
            <a:ext cx="7467120" cy="1796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4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Отчётный способ </a:t>
            </a:r>
            <a:r>
              <a:rPr lang="ru-RU" sz="24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заключается в обязательном предоставлении подотчётными организациями отчётов о своей деятельности в установленные сроки и в определённом порядке.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36" name="Picture 2"/>
          <p:cNvPicPr/>
          <p:nvPr/>
        </p:nvPicPr>
        <p:blipFill>
          <a:blip r:embed="rId2"/>
          <a:stretch/>
        </p:blipFill>
        <p:spPr>
          <a:xfrm>
            <a:off x="2000160" y="2428920"/>
            <a:ext cx="4428720" cy="420984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457200" y="274680"/>
            <a:ext cx="7467120" cy="2225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4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Экспедиционный способ </a:t>
            </a:r>
            <a:r>
              <a:rPr lang="ru-RU" sz="24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состоит в том, что специально обученные работники посещают каждую единицу статистического наблюдения, сами заполняют формуляры статистического наблюдения и доставляют их в статистические органы.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38" name="Picture 2"/>
          <p:cNvPicPr/>
          <p:nvPr/>
        </p:nvPicPr>
        <p:blipFill>
          <a:blip r:embed="rId2"/>
          <a:stretch/>
        </p:blipFill>
        <p:spPr>
          <a:xfrm>
            <a:off x="1643040" y="2714760"/>
            <a:ext cx="4928760" cy="33573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57200" y="274680"/>
            <a:ext cx="7467120" cy="1725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4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Анкетный опрос </a:t>
            </a:r>
            <a:r>
              <a:rPr lang="ru-RU" sz="24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– сбор статистических данных с помощью специальных вопросников (анкет), рассылаемых определённому кругу лиц или публикуемых в периодической печати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40" name="Picture 3"/>
          <p:cNvPicPr/>
          <p:nvPr/>
        </p:nvPicPr>
        <p:blipFill>
          <a:blip r:embed="rId2"/>
          <a:stretch/>
        </p:blipFill>
        <p:spPr>
          <a:xfrm>
            <a:off x="1928880" y="2643120"/>
            <a:ext cx="4500360" cy="328572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457200" y="274680"/>
            <a:ext cx="7467120" cy="229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Корреспондентский способ </a:t>
            </a:r>
            <a:r>
              <a:rPr lang="ru-RU" sz="20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заключается в том, что статистические органы договариваются с определёнными лицами, добровольно взявшими на себя обязательство вести наблюдение за какими-либо явлениями, процессами и в установленные сроки сообщать результаты наблюдения органам статистики.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42" name="Picture 4"/>
          <p:cNvPicPr/>
          <p:nvPr/>
        </p:nvPicPr>
        <p:blipFill>
          <a:blip r:embed="rId2"/>
          <a:stretch/>
        </p:blipFill>
        <p:spPr>
          <a:xfrm>
            <a:off x="1428840" y="2928960"/>
            <a:ext cx="5714640" cy="27856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457200" y="274680"/>
            <a:ext cx="7467120" cy="2082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4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Явочный способ </a:t>
            </a:r>
            <a:r>
              <a:rPr lang="ru-RU" sz="24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заключается в том, что лица, которые обладают сведениями, подлежащими регистрации при статистическом наблюдении, и обязаны предоставить их, сами являются по месту регистрации и сообщают эти сведения.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44" name="Picture 2"/>
          <p:cNvPicPr/>
          <p:nvPr/>
        </p:nvPicPr>
        <p:blipFill>
          <a:blip r:embed="rId2"/>
          <a:stretch/>
        </p:blipFill>
        <p:spPr>
          <a:xfrm>
            <a:off x="2571840" y="2714760"/>
            <a:ext cx="3285720" cy="342864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457200" y="274680"/>
            <a:ext cx="7467120" cy="3726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ru-RU" sz="2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Способ саморегистрации </a:t>
            </a:r>
            <a:r>
              <a:rPr lang="ru-RU" sz="2000" b="0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состоит в том, что формуляры статистического  наблюдения заполняют сами опрашиваемые, а специально привлечённые работники обеспечивают опрашиваемых такими формулярами, инструктируют их, собирают заполненные формуляры, проверяют правильность их заполнения и доставляют в органы статистики.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pic>
        <p:nvPicPr>
          <p:cNvPr id="146" name="Picture 3"/>
          <p:cNvPicPr/>
          <p:nvPr/>
        </p:nvPicPr>
        <p:blipFill>
          <a:blip r:embed="rId2"/>
          <a:stretch/>
        </p:blipFill>
        <p:spPr>
          <a:xfrm>
            <a:off x="3464640" y="4000680"/>
            <a:ext cx="1428480" cy="14284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4 вопрос. Контроль и ошибки наблюдения.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  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 algn="just"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   Расхождения между установленными статистическим наблюдением и действительными значениями изучаемого признака называются </a:t>
            </a:r>
            <a:r>
              <a:rPr lang="ru-RU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ОШИБКАМИ НАБЛЮДЕНИЯ.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Виды ошибок: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Ошибка репрезентативности – появляются при несплошном наблюдении.</a:t>
            </a: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Ошибка регистрации возникает из-за неправильного установления фактов в процессе наблюдения, или ошибочной их записи, или того и другого. </a:t>
            </a:r>
          </a:p>
          <a:p>
            <a:pPr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457200" y="274680"/>
            <a:ext cx="74671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u-RU" sz="3000" b="1" strike="noStrike" cap="sm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Виды контроля:</a:t>
            </a:r>
            <a:endParaRPr lang="ru-RU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457200" y="1600200"/>
            <a:ext cx="7467120" cy="4873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Логический – состоит в составлении ответов на взаимосвязанные и сопоставляемые между собой вопросы, программы, наблюдения.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  <a:buClr>
                <a:srgbClr val="FE8637"/>
              </a:buClr>
              <a:buSzPct val="70000"/>
              <a:buFont typeface="Wingdings" charset="2"/>
              <a:buChar char=""/>
            </a:pPr>
            <a:r>
              <a:rPr lang="ru-RU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entury Schoolbook"/>
              </a:rPr>
              <a:t>Счетный (арифметический) – проверка и сопоставление цифровых итогов.</a:t>
            </a: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  <a:p>
            <a:pPr marL="274320" indent="-273960">
              <a:lnSpc>
                <a:spcPct val="100000"/>
              </a:lnSpc>
            </a:pPr>
            <a:endParaRPr lang="ru-RU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entury Schoolboo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83</TotalTime>
  <Words>865</Words>
  <Application>LibreOffice/5.1.6.2$Linux_X86_64 LibreOffice_project/10m0$Build-2</Application>
  <PresentationFormat>Экран (4:3)</PresentationFormat>
  <Paragraphs>82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26" baseType="lpstr">
      <vt:lpstr>Office Theme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2. «Статистическое наблюдение»</dc:title>
  <dc:subject/>
  <dc:creator/>
  <dc:description/>
  <cp:lastModifiedBy>Александр</cp:lastModifiedBy>
  <cp:revision>14</cp:revision>
  <dcterms:modified xsi:type="dcterms:W3CDTF">2020-01-16T10:11:08Z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24</vt:i4>
  </property>
</Properties>
</file>